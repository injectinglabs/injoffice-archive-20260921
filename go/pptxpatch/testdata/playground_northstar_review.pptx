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Relationships xmlns="http://schemas.openxmlformats.org/package/2006/relationships"><Relationship Id="rIdRoot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  <p:sldId id="258" r:id="rId3"/>
  </p:sldIdLst>
  <p:sldSz cx="12192000" cy="6858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/Relationships>
</file>

<file path=ppt/slideLayouts/_rels/slideLayout1.xml.rels><Relationships xmlns="http://schemas.openxmlformats.org/package/2006/relationships"><Relationship Id="rIdMaster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/>
    </p:spTree>
  </p:cSld>
</p:sldLayout>
</file>

<file path=ppt/slideMasters/_rels/slideMaster1.xml.rels><Relationships xmlns="http://schemas.openxmlformats.org/package/2006/relationships"><Relationship Id="rIdTheme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</p:sldMaster>
</file>

<file path=ppt/slides/_rels/slide1.xml.rels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2.xml.rels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3.xml.rels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Activation card"/>
          <p:cNvSpPr/>
          <p:nvPr/>
        </p:nvSpPr>
        <p:spPr>
          <a:xfrm>
            <a:off x="700000" y="2700000"/>
            <a:ext cx="3200000" cy="1900000"/>
          </a:xfrm>
          <a:prstGeom prst="rect">
            <a:avLst/>
          </a:prstGeom>
          <a:solidFill>
            <a:srgbClr val="EEF0FF"/>
          </a:solidFill>
          <a:ln w="12700" cap="flat" cmpd="sng" algn="ctr">
            <a:solidFill>
              <a:srgbClr val="29265F"/>
            </a:solidFill>
            <a:prstDash val="solid"/>
            <a:round/>
          </a:ln>
        </p:spPr>
      </p:sp>
      <p:sp>
        <p:nvSpPr>
          <p:cNvPr id="11" name="Time to value card"/>
          <p:cNvSpPr/>
          <p:nvPr/>
        </p:nvSpPr>
        <p:spPr>
          <a:xfrm>
            <a:off x="4490000" y="2700000"/>
            <a:ext cx="3200000" cy="1900000"/>
          </a:xfrm>
          <a:prstGeom prst="rect">
            <a:avLst/>
          </a:prstGeom>
          <a:solidFill>
            <a:srgbClr val="FFF1ED"/>
          </a:solidFill>
          <a:ln w="12700" cap="flat" cmpd="sng" algn="ctr">
            <a:solidFill>
              <a:srgbClr val="29265F"/>
            </a:solidFill>
            <a:prstDash val="solid"/>
            <a:round/>
          </a:ln>
        </p:spPr>
      </p:sp>
      <p:sp>
        <p:nvSpPr>
          <p:cNvPr id="12" name="Pilot conversion card"/>
          <p:cNvSpPr/>
          <p:nvPr/>
        </p:nvSpPr>
        <p:spPr>
          <a:xfrm>
            <a:off x="8280000" y="2700000"/>
            <a:ext cx="3200000" cy="1900000"/>
          </a:xfrm>
          <a:prstGeom prst="rect">
            <a:avLst/>
          </a:prstGeom>
          <a:solidFill>
            <a:srgbClr val="ECF8F3"/>
          </a:solidFill>
          <a:ln w="12700" cap="flat" cmpd="sng" algn="ctr">
            <a:solidFill>
              <a:srgbClr val="29265F"/>
            </a:solidFill>
            <a:prstDash val="solid"/>
            <a:round/>
          </a:ln>
        </p:spPr>
      </p:sp>
      <p:sp>
        <p:nvSpPr>
          <p:cNvPr id="2" name="Review title"/>
          <p:cNvSpPr txBox="1"/>
          <p:nvPr/>
        </p:nvSpPr>
        <p:spPr>
          <a:xfrm>
            <a:off x="700000" y="500000"/>
            <a:ext cx="10800000" cy="700000"/>
          </a:xfrm>
        </p:spPr>
        <p:txBody>
          <a:bodyPr/>
          <a:lstStyle/>
          <a:p>
            <a:pPr algn="l" lvl="0">
              <a:buNone/>
            </a:pPr>
            <a:r>
              <a:rPr b="1" i="0" sz="3400">
                <a:solidFill>
                  <a:srgbClr val="171A2B"/>
                </a:solidFill>
                <a:latin typeface="Aptos"/>
              </a:rPr>
              <a:t>Northstar launch review</a:t>
            </a:r>
          </a:p>
        </p:txBody>
      </p:sp>
      <p:sp>
        <p:nvSpPr>
          <p:cNvPr id="3" name="Review subtitle"/>
          <p:cNvSpPr txBox="1"/>
          <p:nvPr/>
        </p:nvSpPr>
        <p:spPr>
          <a:xfrm>
            <a:off x="700000" y="1400000"/>
            <a:ext cx="10800000" cy="400000"/>
          </a:xfrm>
        </p:spPr>
        <p:txBody>
          <a:bodyPr/>
          <a:lstStyle/>
          <a:p>
            <a:pPr algn="l" lvl="0">
              <a:buNone/>
            </a:pPr>
            <a:r>
              <a:rPr b="0" i="0" sz="1500">
                <a:solidFill>
                  <a:srgbClr val="626779"/>
                </a:solidFill>
                <a:latin typeface="Aptos"/>
              </a:rPr>
              <a:t>Q3 operating brief · September 2026</a:t>
            </a:r>
          </a:p>
        </p:txBody>
      </p:sp>
      <p:sp>
        <p:nvSpPr>
          <p:cNvPr id="4" name="Activation value"/>
          <p:cNvSpPr txBox="1"/>
          <p:nvPr/>
        </p:nvSpPr>
        <p:spPr>
          <a:xfrm>
            <a:off x="950000" y="3000000"/>
            <a:ext cx="2500000" cy="500000"/>
          </a:xfrm>
        </p:spPr>
        <p:txBody>
          <a:bodyPr/>
          <a:lstStyle/>
          <a:p>
            <a:pPr algn="l" lvl="0">
              <a:buNone/>
            </a:pPr>
            <a:r>
              <a:rPr b="1" i="0" sz="2700">
                <a:solidFill>
                  <a:srgbClr val="29265F"/>
                </a:solidFill>
                <a:latin typeface="Aptos"/>
              </a:rPr>
              <a:t>128%</a:t>
            </a:r>
          </a:p>
        </p:txBody>
      </p:sp>
      <p:sp>
        <p:nvSpPr>
          <p:cNvPr id="5" name="Activation label"/>
          <p:cNvSpPr txBox="1"/>
          <p:nvPr/>
        </p:nvSpPr>
        <p:spPr>
          <a:xfrm>
            <a:off x="950000" y="3800000"/>
            <a:ext cx="2500000" cy="350000"/>
          </a:xfrm>
        </p:spPr>
        <p:txBody>
          <a:bodyPr/>
          <a:lstStyle/>
          <a:p>
            <a:pPr algn="l" lvl="0">
              <a:buNone/>
            </a:pPr>
            <a:r>
              <a:rPr b="0" i="0" sz="1200">
                <a:solidFill>
                  <a:srgbClr val="626779"/>
                </a:solidFill>
                <a:latin typeface="Aptos"/>
              </a:rPr>
              <a:t>of quarterly target</a:t>
            </a:r>
          </a:p>
        </p:txBody>
      </p:sp>
      <p:sp>
        <p:nvSpPr>
          <p:cNvPr id="6" name="Time to value"/>
          <p:cNvSpPr txBox="1"/>
          <p:nvPr/>
        </p:nvSpPr>
        <p:spPr>
          <a:xfrm>
            <a:off x="4740000" y="3200000"/>
            <a:ext cx="2700000" cy="500000"/>
          </a:xfrm>
        </p:spPr>
        <p:txBody>
          <a:bodyPr/>
          <a:lstStyle/>
          <a:p>
            <a:pPr algn="l" lvl="0">
              <a:buNone/>
            </a:pPr>
            <a:r>
              <a:rPr b="1" i="0" sz="1900">
                <a:solidFill>
                  <a:srgbClr val="29265F"/>
                </a:solidFill>
                <a:latin typeface="Aptos"/>
              </a:rPr>
              <a:t>7 days · down from 11</a:t>
            </a:r>
          </a:p>
        </p:txBody>
      </p:sp>
      <p:sp>
        <p:nvSpPr>
          <p:cNvPr id="7" name="Pilot conversion"/>
          <p:cNvSpPr txBox="1"/>
          <p:nvPr/>
        </p:nvSpPr>
        <p:spPr>
          <a:xfrm>
            <a:off x="8530000" y="3200000"/>
            <a:ext cx="2700000" cy="500000"/>
          </a:xfrm>
        </p:spPr>
        <p:txBody>
          <a:bodyPr/>
          <a:lstStyle/>
          <a:p>
            <a:pPr algn="l" lvl="0">
              <a:buNone/>
            </a:pPr>
            <a:r>
              <a:rPr b="1" i="0" sz="1900">
                <a:solidFill>
                  <a:srgbClr val="29265F"/>
                </a:solidFill>
                <a:latin typeface="Aptos"/>
              </a:rPr>
              <a:t>64% · enterprise cohort</a:t>
            </a:r>
          </a:p>
        </p:txBody>
      </p:sp>
      <p:sp>
        <p:nvSpPr>
          <p:cNvPr id="8" name="Recommendation"/>
          <p:cNvSpPr txBox="1"/>
          <p:nvPr/>
        </p:nvSpPr>
        <p:spPr>
          <a:xfrm>
            <a:off x="700000" y="5400000"/>
            <a:ext cx="10800000" cy="600000"/>
          </a:xfrm>
        </p:spPr>
        <p:txBody>
          <a:bodyPr/>
          <a:lstStyle/>
          <a:p>
            <a:pPr algn="l" lvl="0">
              <a:buNone/>
            </a:pPr>
            <a:r>
              <a:rPr b="1" i="0" sz="1900">
                <a:solidFill>
                  <a:srgbClr val="E05046"/>
                </a:solidFill>
                <a:latin typeface="Aptos"/>
              </a:rPr>
              <a:t>Approve the October rollout with weekly checkpoints.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" name="Reliability checkpoint"/>
          <p:cNvSpPr/>
          <p:nvPr/>
        </p:nvSpPr>
        <p:spPr>
          <a:xfrm>
            <a:off x="10100000" y="5100000"/>
            <a:ext cx="700000" cy="700000"/>
          </a:xfrm>
          <a:prstGeom prst="ellipse">
            <a:avLst/>
          </a:prstGeom>
          <a:solidFill>
            <a:srgbClr val="F47B70"/>
          </a:solidFill>
          <a:ln w="12700" cap="flat" cmpd="sng" algn="ctr">
            <a:solidFill>
              <a:srgbClr val="29265F"/>
            </a:solidFill>
            <a:prstDash val="solid"/>
            <a:round/>
          </a:ln>
        </p:spPr>
      </p:sp>
      <p:sp>
        <p:nvSpPr>
          <p:cNvPr id="2" name="Plan title"/>
          <p:cNvSpPr txBox="1"/>
          <p:nvPr/>
        </p:nvSpPr>
        <p:spPr>
          <a:xfrm>
            <a:off x="700000" y="500000"/>
            <a:ext cx="10800000" cy="700000"/>
          </a:xfrm>
        </p:spPr>
        <p:txBody>
          <a:bodyPr/>
          <a:lstStyle/>
          <a:p>
            <a:pPr algn="l" lvl="0">
              <a:buNone/>
            </a:pPr>
            <a:r>
              <a:rPr b="1" i="0" sz="3200">
                <a:solidFill>
                  <a:srgbClr val="171A2B"/>
                </a:solidFill>
                <a:latin typeface="Aptos"/>
              </a:rPr>
              <a:t>The next 30 days</a:t>
            </a:r>
          </a:p>
        </p:txBody>
      </p:sp>
      <p:sp>
        <p:nvSpPr>
          <p:cNvPr id="3" name="Trust gate"/>
          <p:cNvSpPr txBox="1"/>
          <p:nvPr/>
        </p:nvSpPr>
        <p:spPr>
          <a:xfrm>
            <a:off x="900000" y="1900000"/>
            <a:ext cx="9500000" cy="500000"/>
          </a:xfrm>
        </p:spPr>
        <p:txBody>
          <a:bodyPr/>
          <a:lstStyle/>
          <a:p>
            <a:pPr algn="l" lvl="0">
              <a:buNone/>
            </a:pPr>
            <a:r>
              <a:rPr b="1" i="0" sz="2000">
                <a:solidFill>
                  <a:srgbClr val="E05046"/>
                </a:solidFill>
                <a:latin typeface="Aptos"/>
              </a:rPr>
              <a:t>01 · Close trust gaps</a:t>
            </a:r>
          </a:p>
        </p:txBody>
      </p:sp>
      <p:sp>
        <p:nvSpPr>
          <p:cNvPr id="4" name="Trust detail"/>
          <p:cNvSpPr txBox="1"/>
          <p:nvPr/>
        </p:nvSpPr>
        <p:spPr>
          <a:xfrm>
            <a:off x="900000" y="2500000"/>
            <a:ext cx="9500000" cy="500000"/>
          </a:xfrm>
        </p:spPr>
        <p:txBody>
          <a:bodyPr/>
          <a:lstStyle/>
          <a:p>
            <a:pPr algn="l" lvl="0">
              <a:buNone/>
            </a:pPr>
            <a:r>
              <a:rPr b="0" i="0" sz="1500">
                <a:solidFill>
                  <a:srgbClr val="626779"/>
                </a:solidFill>
                <a:latin typeface="Aptos"/>
              </a:rPr>
              <a:t>Audit-log export and accessibility findings remain release gates.</a:t>
            </a:r>
          </a:p>
        </p:txBody>
      </p:sp>
      <p:sp>
        <p:nvSpPr>
          <p:cNvPr id="5" name="Adoption gate"/>
          <p:cNvSpPr txBox="1"/>
          <p:nvPr/>
        </p:nvSpPr>
        <p:spPr>
          <a:xfrm>
            <a:off x="900000" y="3600000"/>
            <a:ext cx="9500000" cy="500000"/>
          </a:xfrm>
        </p:spPr>
        <p:txBody>
          <a:bodyPr/>
          <a:lstStyle/>
          <a:p>
            <a:pPr algn="l" lvl="0">
              <a:buNone/>
            </a:pPr>
            <a:r>
              <a:rPr b="1" i="0" sz="2000">
                <a:solidFill>
                  <a:srgbClr val="625BF6"/>
                </a:solidFill>
                <a:latin typeface="Aptos"/>
              </a:rPr>
              <a:t>02 · Scale adoption</a:t>
            </a:r>
          </a:p>
        </p:txBody>
      </p:sp>
      <p:sp>
        <p:nvSpPr>
          <p:cNvPr id="6" name="Adoption detail"/>
          <p:cNvSpPr txBox="1"/>
          <p:nvPr/>
        </p:nvSpPr>
        <p:spPr>
          <a:xfrm>
            <a:off x="900000" y="4200000"/>
            <a:ext cx="9500000" cy="500000"/>
          </a:xfrm>
        </p:spPr>
        <p:txBody>
          <a:bodyPr/>
          <a:lstStyle/>
          <a:p>
            <a:pPr algn="l" lvl="0">
              <a:buNone/>
            </a:pPr>
            <a:r>
              <a:rPr b="0" i="0" sz="1500">
                <a:solidFill>
                  <a:srgbClr val="626779"/>
                </a:solidFill>
                <a:latin typeface="Aptos"/>
              </a:rPr>
              <a:t>Publish migration playbooks and name an owner for every pilot.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Decision marker"/>
          <p:cNvSpPr/>
          <p:nvPr/>
        </p:nvSpPr>
        <p:spPr>
          <a:xfrm>
            <a:off x="5200000" y="4000000"/>
            <a:ext cx="1600000" cy="1600000"/>
          </a:xfrm>
          <a:prstGeom prst="diamond">
            <a:avLst/>
          </a:prstGeom>
          <a:solidFill>
            <a:srgbClr val="625BF6"/>
          </a:solidFill>
          <a:ln w="12700" cap="flat" cmpd="sng" algn="ctr">
            <a:solidFill>
              <a:srgbClr val="29265F"/>
            </a:solidFill>
            <a:prstDash val="solid"/>
            <a:round/>
          </a:ln>
        </p:spPr>
      </p:sp>
      <p:sp>
        <p:nvSpPr>
          <p:cNvPr id="2" name="Decision eyebrow"/>
          <p:cNvSpPr txBox="1"/>
          <p:nvPr/>
        </p:nvSpPr>
        <p:spPr>
          <a:xfrm>
            <a:off x="700000" y="700000"/>
            <a:ext cx="10800000" cy="350000"/>
          </a:xfrm>
        </p:spPr>
        <p:txBody>
          <a:bodyPr/>
          <a:lstStyle/>
          <a:p>
            <a:pPr algn="l" lvl="0">
              <a:buNone/>
            </a:pPr>
            <a:r>
              <a:rPr b="1" i="0" sz="1200">
                <a:solidFill>
                  <a:srgbClr val="E05046"/>
                </a:solidFill>
                <a:latin typeface="Aptos"/>
              </a:rPr>
              <a:t>DECISION</a:t>
            </a:r>
          </a:p>
        </p:txBody>
      </p:sp>
      <p:sp>
        <p:nvSpPr>
          <p:cNvPr id="3" name="Decision title"/>
          <p:cNvSpPr txBox="1"/>
          <p:nvPr/>
        </p:nvSpPr>
        <p:spPr>
          <a:xfrm>
            <a:off x="700000" y="1450000"/>
            <a:ext cx="10800000" cy="700000"/>
          </a:xfrm>
        </p:spPr>
        <p:txBody>
          <a:bodyPr/>
          <a:lstStyle/>
          <a:p>
            <a:pPr algn="l" lvl="0">
              <a:buNone/>
            </a:pPr>
            <a:r>
              <a:rPr b="1" i="0" sz="3400">
                <a:solidFill>
                  <a:srgbClr val="171A2B"/>
                </a:solidFill>
                <a:latin typeface="Aptos"/>
              </a:rPr>
              <a:t>Approve the staged rollout</a:t>
            </a:r>
          </a:p>
        </p:txBody>
      </p:sp>
      <p:sp>
        <p:nvSpPr>
          <p:cNvPr id="4" name="Decision detail"/>
          <p:cNvSpPr txBox="1"/>
          <p:nvPr/>
        </p:nvSpPr>
        <p:spPr>
          <a:xfrm>
            <a:off x="700000" y="2500000"/>
            <a:ext cx="10800000" cy="500000"/>
          </a:xfrm>
        </p:spPr>
        <p:txBody>
          <a:bodyPr/>
          <a:lstStyle/>
          <a:p>
            <a:pPr algn="l" lvl="0">
              <a:buNone/>
            </a:pPr>
            <a:r>
              <a:rPr b="0" i="0" sz="1600">
                <a:solidFill>
                  <a:srgbClr val="626779"/>
                </a:solidFill>
                <a:latin typeface="Aptos"/>
              </a:rPr>
              <a:t>Proceed with weekly adoption and reliability checkpoints.</a:t>
            </a:r>
          </a:p>
        </p:txBody>
      </p:sp>
    </p:spTree>
  </p:cSld>
</p:sld>
</file>

<file path=ppt/theme/theme1.xml><?xml version="1.0" encoding="utf-8"?>
<a:theme xmlns:a="http://schemas.openxmlformats.org/drawingml/2006/main" name="InjOffice fixture">
  <a:themeElements/>
</a:theme>
</file>